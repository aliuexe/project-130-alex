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Colorectal cancer via TCGA-COAD. Core pipeline builds mutation, expression and integrated matrices; advanced component predicts mutant peptides and their neoantigen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two deliverable tiers: core (80 pts) and advanced (20 pts), and the reproducibility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colorectal: KRAS/TP53/APC/PIK3CA drivers, MSI subset with high neoantigen load. Filtering rationale from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open access, exact files, download dates, single 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left-to-right, top row = core, bottom row = advanced. Each box is one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310,472 raw → 184,574 filtered → 153,996 distinct mutations × 586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strictly 0/1; HGVS notation; tab-delimited (Rule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honest RSEM→TPM conversion. Every sample column sums to exactly 1e6.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03 keeps per-sample mutation columns + GeneLevelTPM.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required QC figures produced; two shown here and on prior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145,612 mutations annotated; 6,873,140 peptides; 2,964 excluded for ref-AA mismatch (audited).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 shows the peptide explosion (6.87M) narrowing to 1,536 prioritised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2.46M unique 9-mers × 3 alleles. Present binding vs presentation vs immunogenicity distinction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delta / below-diagonal = neoantigen-favourable. This is the core selection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I and class II reported separately (different pathways).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conceptual point examiners look for. Predictions are prioritisation features, not experimental validation (Rule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data-driven shortlist rediscovers the known colorectal neoantigen landscape — a strong sanity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numbers to biology.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two required presentation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Part V rules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Cancer Mutations, Gene Expression &amp;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Neoantigen Prediction in Colorectal Cancer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TCGA-COAD  |  Project 130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886200"/>
            <a:ext cx="2926080" cy="0"/>
          </a:xfrm>
          <a:prstGeom prst="line">
            <a:avLst/>
          </a:prstGeom>
          <a:noFill/>
          <a:ln w="31750">
            <a:solidFill>
              <a:srgbClr val="EF6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Member 1]  •  [Group Member 2]        2026-07-20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mutations  →  expression  →  mutant peptides  →  HLA binding  →  candidate neoantigens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5270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328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cancer type (colorectal / TCGA-COAD); build an integrated somatic-mutation + expression dataset.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871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Mutation-by-sample matrix, gene-by-sample TPM matrix, and an integrated matrix with a cancer-level expression summary.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646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47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coding mutations into mutant peptides; predict HLA binding and neoantigen potential.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074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from numbered scripts; exact software versions and access dates; tab-delimited outputs.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selection: colorectal cancer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TCGA-COAD chosen: large, well-characterised colorectal cohort with a high neoantigen burden.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mutations from the GDC project-level Masked Somatic Mutation MAF (GRCh38).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filtered to protein-coding, PASS, missense single-nucleotide variants.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Missense SNVs (red) are the substrate for the neoantigen analysis.</a:t>
            </a:r>
            <a:endParaRPr lang="en-US" sz="1500" dirty="0"/>
          </a:p>
        </p:txBody>
      </p:sp>
      <p:pic>
        <p:nvPicPr>
          <p:cNvPr id="4" name="Image 0" descr="/sessions/determined-epic-cannon/mnt/Project 130/figures/fig6_variant_classif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5623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variant classes in the raw TCGA-COAD MAF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provenance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41148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/ assembly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Somatic mutations (MAF)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NCI GDC — TCGA-COAD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Somatic Mutation, GRCh38 (gdc-client manifest)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RNA-seq expression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cBioPortal — coadread_tcga_pan_can_atlas_2018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data_mrna_seq_v2_rsem.txt (RSEM, HiSeq RNASeqV2)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proteome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UniProt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human proteome UP000005640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downloads accessed 2026-07-20. Assembly is GRCh38/hg38 throughout — no coordinate mixing (Rule 5).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(not microarray). RSEM values are converted to TPM (documented) — never mislabelled (Rule 6).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workflow</a:t>
            </a:r>
            <a:endParaRPr lang="en-US" sz="3000" dirty="0"/>
          </a:p>
        </p:txBody>
      </p:sp>
      <p:pic>
        <p:nvPicPr>
          <p:cNvPr id="3" name="Image 0" descr="/sessions/determined-epic-cannon/mnt/Project 130/figures/fig13_workflow_schema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1124712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numbered, reproducible scripts (01–07) from MAF + RNA-seq to prioritised neoantigens.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 — Core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matrix  ·  TPM matrix  ·  integration  ·  quality control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3246120"/>
            <a:ext cx="2743200" cy="0"/>
          </a:xfrm>
          <a:prstGeom prst="line">
            <a:avLst/>
          </a:prstGeom>
          <a:noFill/>
          <a:ln w="31750">
            <a:solidFill>
              <a:srgbClr val="EF64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0233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Somatic mutation processing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9326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4–5  •  script 01_build_mutation_matrix.py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protein-coding, PASS, nonsynonymous missense SNVs.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tumour barcodes to TCGA sample 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mutation-by-sample matrix; one row per distinct mutation (HGVS).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0E2A3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904488"/>
            <a:ext cx="5102352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Section 4 filters (all GRCh38)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= ((df.BIOTYPE == "protein_coding") &amp;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df.GDC_FILTER.isin(["", "PASS"]) &amp;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(df.Variant_Classification ==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"Missense_Mutation") &amp;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(df.Variant_Type == "SNP"))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distinct mutation = Gene + HGVSc + HGVSp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= 1 if present in sample else 0</a:t>
            </a:r>
            <a:endParaRPr lang="en-US" sz="1100" dirty="0"/>
          </a:p>
        </p:txBody>
      </p:sp>
      <p:pic>
        <p:nvPicPr>
          <p:cNvPr id="9" name="Image 0" descr="/sessions/determined-epic-cannon/mnt/Project 130/figures/fig1_top_mutated_ge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63040"/>
            <a:ext cx="5669280" cy="4206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0" y="5669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mutated genes — TP53/KRAS/PIK3CA drivers recovered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01 — mutation-by-sample matrix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468880"/>
                <a:gridCol w="1524305"/>
                <a:gridCol w="1524305"/>
                <a:gridCol w="152430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Gene_Name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Mutation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AminoAcid_Change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TCGA-…-01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TCGA-…-02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TCGA-…-03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KRAS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c.35G&gt;A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p.G12D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KRAS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c.35G&gt;T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p.G12V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c.1919T&gt;A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p.V640E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TP53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c.743G&gt;A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p.R248Q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153,996 distinct mutations × 586 tumour samples. Multiple mutations in a gene are separate rows (Section 5).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0233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Expression: RSEM → TPM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9326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•  script 02_build_expression_matrix.py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1F5F7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convert?  </a:t>
            </a:r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RSEM sample sums ≈ 1.8×10⁷, so values are NOT TPM. Rescaling each sample to 1×10⁶ yields true TPM (Rule 6).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0E2A3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898648"/>
            <a:ext cx="510235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RSEM -&gt; TPM: rescale each sample to 1e6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col_totals = expr.sum(axis=0, skipna=True)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tpm = expr.divide(col_totals, axis=1) * 1e6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np.allclose(tpm.sum(axis=0), 1e6)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duplicated gene symbols summed -&gt; one row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20,511 genes × 592 tumour samples  ·  5.64% missing → NA (never 0)</a:t>
            </a:r>
            <a:endParaRPr lang="en-US" sz="1250" dirty="0"/>
          </a:p>
        </p:txBody>
      </p:sp>
      <p:pic>
        <p:nvPicPr>
          <p:cNvPr id="11" name="Image 0" descr="/sessions/determined-epic-cannon/mnt/Project 130/figures/fig2_genelevel_tpm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63040"/>
            <a:ext cx="5669280" cy="4206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26480" y="5669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GeneLevelTPM (log scale)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0233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mutations &amp; expression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9326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•  script 03_integrate_datasets.py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and expression cohorts differ → summarise expression per gene.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GeneLevelTPM = median TPM across tumour samples (robust to outliers).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by gene; genes absent from expression → NA (never 0).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0E2A3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813048"/>
            <a:ext cx="510235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GeneLevelTPM = median TPM across samples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gene_level = (tpm.set_index("GeneName")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.median(axis=1, skipna=True))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into mutation matrix by gene symbol</a:t>
            </a:r>
            <a:endParaRPr lang="en-US" sz="1100" dirty="0"/>
          </a:p>
        </p:txBody>
      </p:sp>
      <p:pic>
        <p:nvPicPr>
          <p:cNvPr id="9" name="Image 0" descr="/sessions/determined-epic-cannon/mnt/Project 130/figures/fig4_freq_vs_expres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63040"/>
            <a:ext cx="5669280" cy="4297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0" y="5715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frequency vs gene expression per gene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 (Section 8)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310,472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042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MAF records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153,996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0" y="23042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mutations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586 / 592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995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/ expr samples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3995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expression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Hugo symbols · GRCh38 throughout · counts before/after filtering reported.</a:t>
            </a:r>
            <a:endParaRPr lang="en-US" sz="1250" dirty="0"/>
          </a:p>
        </p:txBody>
      </p:sp>
      <p:pic>
        <p:nvPicPr>
          <p:cNvPr id="12" name="Image 0" descr="/sessions/determined-epic-cannon/mnt/Project 130/figures/fig3_mut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669280" cy="42976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0" y="5669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mutations across tumour samples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II — Neoantigens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peptides  ·  HLA binding  ·  immunogenicity  ·  prioritisation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3246120"/>
            <a:ext cx="2743200" cy="0"/>
          </a:xfrm>
          <a:prstGeom prst="line">
            <a:avLst/>
          </a:prstGeom>
          <a:noFill/>
          <a:ln w="31750">
            <a:solidFill>
              <a:srgbClr val="EF646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0233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→ protein → peptides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9326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9–10  •  script 05_annotate_and_generate_peptides.py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missense mutation to its VEP-canonical transcript &amp; protein.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mutation-containing 9-mers (MHC-I) and 15-mers (MHC-II) + wild-type.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reference AA vs reference protein; 1-based mutation position.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669280" cy="1920240"/>
          </a:xfrm>
          <a:prstGeom prst="roundRect">
            <a:avLst>
              <a:gd name="adj" fmla="val 2857"/>
            </a:avLst>
          </a:prstGeom>
          <a:solidFill>
            <a:srgbClr val="0E2A3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813048"/>
            <a:ext cx="537667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windows(seq, m, L):        # m = 1-based pos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start in range(max(1, m-L+1),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min(len(seq)-L+1, m)+1):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seq[start-1:start-1+L], m-start+1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KRAS p.G12D  -&gt;  mutant  VVGADGVGK  (MutPos 5)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-&gt;  wild-t  VVGAGGVGK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20640" cy="4114800"/>
          </a:xfrm>
          <a:prstGeom prst="roundRect">
            <a:avLst>
              <a:gd name="adj" fmla="val 1333"/>
            </a:avLst>
          </a:prstGeom>
          <a:solidFill>
            <a:srgbClr val="F1F5F7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KRAS G12D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protein: …LVVV</a:t>
            </a:r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AGGVGKS…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Mutant   protein: …LVVV</a:t>
            </a:r>
            <a:pPr indent="0" marL="0">
              <a:buNone/>
            </a:pPr>
            <a:r>
              <a:rPr lang="en-US" sz="1250" b="1" dirty="0">
                <a:solidFill>
                  <a:srgbClr val="EF64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AGGVGKS…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9-mer mutant: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VVGA</a:t>
            </a:r>
            <a:pPr indent="0" marL="0">
              <a:buNone/>
            </a:pPr>
            <a:r>
              <a:rPr lang="en-US" sz="1250" b="1" dirty="0">
                <a:solidFill>
                  <a:srgbClr val="EF64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GVGK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9-mer wild-t:  </a:t>
            </a:r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VVGA</a:t>
            </a:r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250" dirty="0">
                <a:solidFill>
                  <a:srgbClr val="1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GVGK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C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the assignment's worked example exactly.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mutations to candidates — scale</a:t>
            </a:r>
            <a:endParaRPr lang="en-US" sz="3000" dirty="0"/>
          </a:p>
        </p:txBody>
      </p:sp>
      <p:pic>
        <p:nvPicPr>
          <p:cNvPr id="3" name="Image 0" descr="/sessions/determined-epic-cannon/mnt/Project 130/figures/fig5_methods_fun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1280160"/>
            <a:ext cx="7406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0233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HLA selection &amp; MHC binding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93268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11–12  •  script 06_predict_neoantigens.py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fixed HLA-I panel: A*02:01, A*01:01, A*03:01.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MHCflurry 2.2.1 presentation predictor: affinity, %rank, presentation score.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class: Strong &lt;50 nM, Weak &lt;500 nM. Class-II 15-mers reserved for NetMHCIIpan.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669280" cy="1737360"/>
          </a:xfrm>
          <a:prstGeom prst="roundRect">
            <a:avLst>
              <a:gd name="adj" fmla="val 3158"/>
            </a:avLst>
          </a:prstGeom>
          <a:solidFill>
            <a:srgbClr val="0E2A3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904488"/>
            <a:ext cx="537667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predictor.predict(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peptides=uniq, alleles=[allele],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include_affinity_percentile=True)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score carries its HLA allele (Rule 7)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tool outputs -&gt; NA, never 0</a:t>
            </a:r>
            <a:endParaRPr lang="en-US" sz="1050" dirty="0"/>
          </a:p>
        </p:txBody>
      </p:sp>
      <p:pic>
        <p:nvPicPr>
          <p:cNvPr id="9" name="Image 0" descr="/sessions/determined-epic-cannon/mnt/Project 130/figures/fig7_mut_vs_wt_affin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486400" cy="4206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vs wild-type 9-mer binding, with 50/500 nM cutoffs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Wild-type vs mutant comparison (Section 14)</a:t>
            </a:r>
            <a:endParaRPr lang="en-US" sz="3000" dirty="0"/>
          </a:p>
        </p:txBody>
      </p:sp>
      <p:pic>
        <p:nvPicPr>
          <p:cNvPr id="3" name="Image 0" descr="/sessions/determined-epic-cannon/mnt/Project 130/figures/fig8_delta_affin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760720" cy="4297680"/>
          </a:xfrm>
          <a:prstGeom prst="rect">
            <a:avLst/>
          </a:prstGeom>
        </p:spPr>
      </p:pic>
      <p:pic>
        <p:nvPicPr>
          <p:cNvPr id="4" name="Image 1" descr="/sessions/determined-epic-cannon/mnt/Project 130/figures/fig11_mut_vs_wt_scat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280160"/>
            <a:ext cx="5394960" cy="4754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58064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ΔAffinity = WT − Mutant.  54% of mutant 9-mers bind more strongly than wild-type (below the diagonal, right).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binders by class &amp; allele</a:t>
            </a:r>
            <a:endParaRPr lang="en-US" sz="3000" dirty="0"/>
          </a:p>
        </p:txBody>
      </p:sp>
      <p:pic>
        <p:nvPicPr>
          <p:cNvPr id="3" name="Image 0" descr="/sessions/determined-epic-cannon/mnt/Project 130/figures/fig9_binder_class_mut_vs_w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669280" cy="4297680"/>
          </a:xfrm>
          <a:prstGeom prst="rect">
            <a:avLst/>
          </a:prstGeom>
        </p:spPr>
      </p:pic>
      <p:pic>
        <p:nvPicPr>
          <p:cNvPr id="4" name="Image 1" descr="/sessions/determined-epic-cannon/mnt/Project 130/figures/fig10_strong_binders_by_alle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71600"/>
            <a:ext cx="5486400" cy="4297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57607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30,260 strong-binding mutant 9-mer–allele pairs; HLA-A*02:01 yields the most, then A*03:01, then A*01:01.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≠ immunogenicity (Section 13)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1F5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MHC binding / presentation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is predicted to be displayed by an HLA molecule.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here with MHCflurry.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binder is NOT automatically immunogenic.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1F5F7"/>
          </a:solidFill>
          <a:ln w="19050">
            <a:solidFill>
              <a:srgbClr val="EF6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Immunogenicity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3774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peptide can stimulate a T-cell response.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dedicated predictor (e.g. PRIME).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NA unless that tool is run — never fabricated.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and immunogenicity are kept in separate columns of deliverable 04.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Prioritised neoantigen candidates (Section 14)</a:t>
            </a:r>
            <a:endParaRPr lang="en-US" sz="3000" dirty="0"/>
          </a:p>
        </p:txBody>
      </p:sp>
      <p:pic>
        <p:nvPicPr>
          <p:cNvPr id="3" name="Image 0" descr="/sessions/determined-epic-cannon/mnt/Project 130/figures/fig12_top_candid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234440"/>
            <a:ext cx="6675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1,536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candidates (966 genes)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2976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30,260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297680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mutant binders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955280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&gt; wild-type binding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recovered at expected frequency (TP53, KRAS, PIK3CA).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candidates are canonical CRC neoantigens: KRAS G12V/C/S/A, PIK3CA E542K, SMAD4 R361H.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G12x recovered on HLA-A*03:01 — a documented, clinically pursued neoantigen.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challenge · one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1F5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pairing WT vs mutant across ~16M peptide–allele rows.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per-mutation (not per-gene) recurrence.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running MHCflurry over 2.46M unique 9-mers reproducibly.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1F5F7"/>
          </a:solidFill>
          <a:ln w="19050">
            <a:solidFill>
              <a:srgbClr val="EF6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6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conclusion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33172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recurrence- and expression-aware pipeline independently rediscovers the colorectal neoantigen landscape.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G12x on HLA-A*03:01 emerges as a top shared-neoantigen candidate.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reproducibility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675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and expression cohorts are both TCGA-COAD but not identical samples (cancer-level median used).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restricted to missense SNVs; in-frame indels / frameshifts are an extension.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RSEM→TPM is a documented per-million rescaling; native GDC TPM is an alternative.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Class-II binding and immunogenicity are NA unless NetMHCIIpan / PRIME are run.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prioritisation features, not experimental validation (Rule 8).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498080" y="155448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10333F"/>
          </a:solidFill>
          <a:ln/>
        </p:spPr>
      </p:sp>
      <p:sp>
        <p:nvSpPr>
          <p:cNvPr id="5" name="Text 3"/>
          <p:cNvSpPr/>
          <p:nvPr/>
        </p:nvSpPr>
        <p:spPr>
          <a:xfrm>
            <a:off x="77266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by design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26680" y="23774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numbered scripts (01–07)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tab-delimited deliverables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software versions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dates + GRCh38 only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= NA, never 0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table edits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743200" cy="0"/>
          </a:xfrm>
          <a:prstGeom prst="line">
            <a:avLst/>
          </a:prstGeom>
          <a:noFill/>
          <a:ln w="31750">
            <a:solidFill>
              <a:srgbClr val="EF64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130  ·  TCGA-COAD neoantigen pipeline  ·  mutations → expression → peptides → HLA → candidates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2026-07-20T17:11:36Z</dcterms:created>
  <dcterms:modified xsi:type="dcterms:W3CDTF">2026-07-20T17:11:36Z</dcterms:modified>
</cp:coreProperties>
</file>